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4" r:id="rId15"/>
    <p:sldId id="269" r:id="rId16"/>
    <p:sldId id="270" r:id="rId17"/>
    <p:sldId id="271" r:id="rId18"/>
    <p:sldId id="272" r:id="rId19"/>
    <p:sldId id="273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1498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7AFA8C-A59E-48D7-BAF8-BFAA82ED31F6}" type="datetimeFigureOut">
              <a:rPr lang="en-IN" smtClean="0"/>
              <a:t>12-06-2026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59B4BF-B20C-4D7C-80EC-E1A645E898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323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• Historical </a:t>
            </a:r>
            <a:r>
              <a:rPr lang="en-IN" dirty="0" err="1"/>
              <a:t>VaR</a:t>
            </a:r>
            <a:r>
              <a:rPr lang="en-IN" dirty="0"/>
              <a:t> (95%) calculated for 40 schemes</a:t>
            </a:r>
          </a:p>
          <a:p>
            <a:r>
              <a:rPr lang="en-IN" dirty="0"/>
              <a:t>• CVaR used to measure tail risk exposure</a:t>
            </a:r>
          </a:p>
          <a:p>
            <a:r>
              <a:rPr lang="en-IN" dirty="0"/>
              <a:t>• Rolling 90-Day Sharpe Ratio evaluated consistency</a:t>
            </a:r>
          </a:p>
          <a:p>
            <a:r>
              <a:rPr lang="en-IN" dirty="0"/>
              <a:t>• HHI calculated for 34 portfolios</a:t>
            </a:r>
          </a:p>
          <a:p>
            <a:r>
              <a:rPr lang="en-IN" dirty="0"/>
              <a:t>• Investor Cohort Analysis performed</a:t>
            </a:r>
          </a:p>
          <a:p>
            <a:r>
              <a:rPr lang="en-IN" dirty="0"/>
              <a:t>• SIP Continuity Analysis identified at-risk investors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59B4BF-B20C-4D7C-80EC-E1A645E898C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699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8924" y="1432875"/>
            <a:ext cx="6782380" cy="1800520"/>
          </a:xfrm>
        </p:spPr>
        <p:txBody>
          <a:bodyPr>
            <a:normAutofit/>
          </a:bodyPr>
          <a:lstStyle/>
          <a:p>
            <a:r>
              <a:rPr dirty="0" err="1"/>
              <a:t>Bluestock</a:t>
            </a:r>
            <a:r>
              <a:rPr dirty="0"/>
              <a:t> Mutual Fund Analytics Capstone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199"/>
            <a:ext cx="7265504" cy="1997765"/>
          </a:xfrm>
        </p:spPr>
        <p:txBody>
          <a:bodyPr>
            <a:normAutofit fontScale="62500" lnSpcReduction="20000"/>
          </a:bodyPr>
          <a:lstStyle/>
          <a:p>
            <a:endParaRPr lang="en-IN" b="1" dirty="0"/>
          </a:p>
          <a:p>
            <a:r>
              <a:rPr lang="en-IN" b="1" dirty="0"/>
              <a:t>Prepared By:</a:t>
            </a:r>
          </a:p>
          <a:p>
            <a:r>
              <a:rPr lang="en-IN" b="1" dirty="0"/>
              <a:t>Srinivasan S</a:t>
            </a:r>
          </a:p>
          <a:p>
            <a:endParaRPr lang="en-IN" b="1" dirty="0"/>
          </a:p>
          <a:p>
            <a:r>
              <a:rPr lang="en-IN" b="1" dirty="0"/>
              <a:t>Tools Used:</a:t>
            </a:r>
          </a:p>
          <a:p>
            <a:r>
              <a:rPr lang="en-IN" b="1" dirty="0"/>
              <a:t>Python | Pandas | NumPy | SQLite | SQL | Power BI</a:t>
            </a:r>
          </a:p>
          <a:p>
            <a:endParaRPr lang="en-IN" b="1" dirty="0"/>
          </a:p>
          <a:p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an end-to-end mutual fund analytics platform using Python, SQLite, SQL and Power BI.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Investors need better tools to compare funds, evaluate risk and understand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Data → ETL → SQLite → Analytics → Dashboard →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Fund Master, NAV History, AUM, SIP Inflows, Transactions, Holdings and Benchmarks.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Extraction, Transformation and Loading into SQLite and processed datasets.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AUM growth, SIP trends, category inflows and fund house rankings.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CAGR, Sharpe Ratio, Alpha, Beta, Maximum Drawdown and Fund Score.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Advanced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2636"/>
            <a:ext cx="8229600" cy="2971800"/>
          </a:xfrm>
        </p:spPr>
        <p:txBody>
          <a:bodyPr>
            <a:normAutofit/>
          </a:bodyPr>
          <a:lstStyle/>
          <a:p>
            <a:r>
              <a:rPr sz="1400" dirty="0" err="1"/>
              <a:t>VaR</a:t>
            </a:r>
            <a:r>
              <a:rPr sz="1400" dirty="0"/>
              <a:t>, CVaR, Rolling Sharpe Ratio, HHI, Cohort Analysis and SIP Continuity.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C7C488-0F38-3282-B64F-F44E8870E9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86604"/>
            <a:ext cx="8323384" cy="2587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B7E58E-38FF-1F4F-3DD7-79D11996ACF9}"/>
              </a:ext>
            </a:extLst>
          </p:cNvPr>
          <p:cNvSpPr txBox="1"/>
          <p:nvPr/>
        </p:nvSpPr>
        <p:spPr>
          <a:xfrm>
            <a:off x="1060683" y="4225271"/>
            <a:ext cx="620201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• Historical </a:t>
            </a:r>
            <a:r>
              <a:rPr lang="en-IN" dirty="0" err="1"/>
              <a:t>VaR</a:t>
            </a:r>
            <a:r>
              <a:rPr lang="en-IN" dirty="0"/>
              <a:t> (95%) calculated for 40 schemes</a:t>
            </a:r>
          </a:p>
          <a:p>
            <a:r>
              <a:rPr lang="en-IN" dirty="0"/>
              <a:t>• CVaR used to measure tail risk exposure</a:t>
            </a:r>
          </a:p>
          <a:p>
            <a:r>
              <a:rPr lang="en-IN" dirty="0"/>
              <a:t>• Rolling 90-Day Sharpe Ratio evaluated consistency</a:t>
            </a:r>
          </a:p>
          <a:p>
            <a:r>
              <a:rPr lang="en-IN" dirty="0"/>
              <a:t>• HHI calculated for 34 portfolios</a:t>
            </a:r>
          </a:p>
          <a:p>
            <a:r>
              <a:rPr lang="en-IN" dirty="0"/>
              <a:t>• Investor Cohort Analysis performed</a:t>
            </a:r>
          </a:p>
          <a:p>
            <a:r>
              <a:rPr lang="en-IN" dirty="0"/>
              <a:t>• SIP Continuity Analysis identified at-risk investors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Investor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Investor cohorts and SIP continuity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Sharpe funds delivered better risk-adjusted returns; SIP participation is growing.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on risk-adjusted returns, diversification and SIP retention.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Monte Carlo Simulation, Efficient Frontier and Streamlit deployment.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EA5B9-E63F-D52C-A596-C178CAAC6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358219"/>
            <a:ext cx="6723668" cy="1027521"/>
          </a:xfrm>
        </p:spPr>
        <p:txBody>
          <a:bodyPr/>
          <a:lstStyle/>
          <a:p>
            <a:r>
              <a:rPr lang="en-IN" dirty="0"/>
              <a:t>Project Outcomes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094F62-3F5C-7133-B508-C8A10E2C9F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545237"/>
            <a:ext cx="6594049" cy="3093563"/>
          </a:xfrm>
        </p:spPr>
        <p:txBody>
          <a:bodyPr>
            <a:normAutofit fontScale="47500" lnSpcReduction="20000"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 40 Mutual Fund Schemes </a:t>
            </a:r>
            <a:r>
              <a:rPr lang="en-IN" b="1" dirty="0" err="1">
                <a:solidFill>
                  <a:schemeClr val="tx1"/>
                </a:solidFill>
              </a:rPr>
              <a:t>Analyzed</a:t>
            </a:r>
            <a:endParaRPr lang="en-IN" b="1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 SQLite Database Developed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 4 Interactive Power BI Dashboards Created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b="1" dirty="0" err="1">
                <a:solidFill>
                  <a:schemeClr val="tx1"/>
                </a:solidFill>
              </a:rPr>
              <a:t>VaR</a:t>
            </a:r>
            <a:r>
              <a:rPr lang="en-IN" b="1" dirty="0">
                <a:solidFill>
                  <a:schemeClr val="tx1"/>
                </a:solidFill>
              </a:rPr>
              <a:t> &amp; CVaR Calculated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 Rolling Sharpe Ratio Implemented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 HHI Portfolio Analysis Completed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IN" b="1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/>
                </a:solidFill>
              </a:rPr>
              <a:t> Fund Recommendation Engine Developed</a:t>
            </a:r>
          </a:p>
        </p:txBody>
      </p:sp>
    </p:spTree>
    <p:extLst>
      <p:ext uri="{BB962C8B-B14F-4D97-AF65-F5344CB8AC3E}">
        <p14:creationId xmlns:p14="http://schemas.microsoft.com/office/powerpoint/2010/main" val="1667570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Comprehensive mutual fund analytics solution successfully developed.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- Industry Overview</a:t>
            </a:r>
          </a:p>
        </p:txBody>
      </p:sp>
      <p:pic>
        <p:nvPicPr>
          <p:cNvPr id="3" name="Picture 2" descr="page1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637"/>
            <a:ext cx="8046720" cy="469492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- Fund Performance</a:t>
            </a:r>
          </a:p>
        </p:txBody>
      </p:sp>
      <p:pic>
        <p:nvPicPr>
          <p:cNvPr id="3" name="Picture 2" descr="page2.p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6651"/>
            <a:ext cx="80467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- Investor Analytics</a:t>
            </a:r>
          </a:p>
        </p:txBody>
      </p:sp>
      <p:pic>
        <p:nvPicPr>
          <p:cNvPr id="3" name="Picture 2" descr="p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76346"/>
            <a:ext cx="80467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- SIP &amp; Market Trends</a:t>
            </a:r>
          </a:p>
        </p:txBody>
      </p:sp>
      <p:pic>
        <p:nvPicPr>
          <p:cNvPr id="3" name="Picture 2" descr="p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715" y="1745311"/>
            <a:ext cx="8046720" cy="4526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358</Words>
  <Application>Microsoft Office PowerPoint</Application>
  <PresentationFormat>On-screen Show (4:3)</PresentationFormat>
  <Paragraphs>64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Bluestock Mutual Fund Analytics Capstone Project</vt:lpstr>
      <vt:lpstr>Executive Summary</vt:lpstr>
      <vt:lpstr>Business Problem</vt:lpstr>
      <vt:lpstr>Project Architecture</vt:lpstr>
      <vt:lpstr>Dataset Overview</vt:lpstr>
      <vt:lpstr>ETL Pipeline</vt:lpstr>
      <vt:lpstr>EDA Findings</vt:lpstr>
      <vt:lpstr>Performance Analytics</vt:lpstr>
      <vt:lpstr>Advanced Analytics</vt:lpstr>
      <vt:lpstr>Investor Analytics</vt:lpstr>
      <vt:lpstr>Key Insights</vt:lpstr>
      <vt:lpstr>Recommendations</vt:lpstr>
      <vt:lpstr>Future Scope</vt:lpstr>
      <vt:lpstr>Project Outcomes</vt:lpstr>
      <vt:lpstr>Conclusion</vt:lpstr>
      <vt:lpstr>Dashboard - Industry Overview</vt:lpstr>
      <vt:lpstr>Dashboard - Fund Performance</vt:lpstr>
      <vt:lpstr>Dashboard - Investor Analytics</vt:lpstr>
      <vt:lpstr>Dashboard - SIP &amp; Market Trends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Srini Vasan</cp:lastModifiedBy>
  <cp:revision>3</cp:revision>
  <dcterms:created xsi:type="dcterms:W3CDTF">2013-01-27T09:14:16Z</dcterms:created>
  <dcterms:modified xsi:type="dcterms:W3CDTF">2026-06-12T05:14:10Z</dcterms:modified>
  <cp:category/>
</cp:coreProperties>
</file>